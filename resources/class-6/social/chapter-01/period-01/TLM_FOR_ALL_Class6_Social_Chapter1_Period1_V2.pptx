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F3052"/>
                </a:solidFill>
                <a:latin typeface="Aptos"/>
              </a:defRPr>
            </a:pPr>
            <a:r>
              <a:t>CLASS 6 • SOCIAL STUDIES • PERIOD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READING AND MAKING MAPS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481328"/>
            <a:ext cx="681228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01952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F3052"/>
                </a:solidFill>
                <a:latin typeface="Aptos"/>
              </a:defRPr>
            </a:pPr>
            <a: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4800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0F3052"/>
                </a:solidFill>
                <a:latin typeface="Aptos"/>
              </a:defRPr>
            </a:pPr>
            <a:r>
              <a:t>MAPS ARE A WAY</a:t>
            </a:r>
            <a:br/>
            <a:r>
              <a:t>TO UNDERSTAND A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31821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979D"/>
                </a:solidFill>
                <a:latin typeface="Aptos"/>
              </a:defRPr>
            </a:pPr>
            <a:r>
              <a:t>District Map  •  Map Game  •  Sketch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1952" y="37033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9"/>
                </a:solidFill>
                <a:latin typeface="Aptos"/>
              </a:defRPr>
            </a:pPr>
            <a:r>
              <a:t>SCERT Telangana • Chapter 1 • pp. 2–5 focus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01952" y="4315968"/>
            <a:ext cx="1234440" cy="347472"/>
          </a:xfrm>
          <a:prstGeom prst="round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8528" y="4370831"/>
            <a:ext cx="11612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315968"/>
            <a:ext cx="1143000" cy="347472"/>
          </a:xfrm>
          <a:prstGeom prst="round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82696" y="4370831"/>
            <a:ext cx="1069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07992" y="4315968"/>
            <a:ext cx="1078992" cy="347472"/>
          </a:xfrm>
          <a:prstGeom prst="roundRect">
            <a:avLst/>
          </a:prstGeom>
          <a:solidFill>
            <a:srgbClr val="319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4370831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79008" y="4315968"/>
            <a:ext cx="1024128" cy="347472"/>
          </a:xfrm>
          <a:prstGeom prst="roundRect">
            <a:avLst/>
          </a:prstGeom>
          <a:solidFill>
            <a:srgbClr val="EF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4" y="4370831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REFLECT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508760"/>
            <a:ext cx="3886200" cy="4251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8" y="1655063"/>
            <a:ext cx="34838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979D"/>
                </a:solidFill>
                <a:latin typeface="Aptos"/>
              </a:defRPr>
            </a:pPr>
            <a:r>
              <a:t>A PLACE → A MAP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955279" y="3209544"/>
            <a:ext cx="3246121" cy="1360627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801100" y="2011680"/>
            <a:ext cx="854963" cy="3474720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34756" y="2699308"/>
            <a:ext cx="2331720" cy="1700784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Wave 29"/>
          <p:cNvSpPr/>
          <p:nvPr/>
        </p:nvSpPr>
        <p:spPr>
          <a:xfrm>
            <a:off x="7946136" y="2018995"/>
            <a:ext cx="1010412" cy="680313"/>
          </a:xfrm>
          <a:prstGeom prst="wave">
            <a:avLst/>
          </a:prstGeom>
          <a:solidFill>
            <a:srgbClr val="E5F2FA"/>
          </a:solidFill>
          <a:ln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0" y="3549700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3648" y="354055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Village</a:t>
            </a:r>
          </a:p>
        </p:txBody>
      </p:sp>
      <p:sp>
        <p:nvSpPr>
          <p:cNvPr id="33" name="Oval 32"/>
          <p:cNvSpPr/>
          <p:nvPr/>
        </p:nvSpPr>
        <p:spPr>
          <a:xfrm>
            <a:off x="9966959" y="2529230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8128" y="252008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Town</a:t>
            </a:r>
          </a:p>
        </p:txBody>
      </p:sp>
      <p:sp>
        <p:nvSpPr>
          <p:cNvPr id="35" name="Oval 34"/>
          <p:cNvSpPr/>
          <p:nvPr/>
        </p:nvSpPr>
        <p:spPr>
          <a:xfrm>
            <a:off x="10472166" y="4144975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73334" y="4135831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School</a:t>
            </a:r>
          </a:p>
        </p:txBody>
      </p:sp>
      <p:sp>
        <p:nvSpPr>
          <p:cNvPr id="37" name="Oval 36"/>
          <p:cNvSpPr/>
          <p:nvPr/>
        </p:nvSpPr>
        <p:spPr>
          <a:xfrm>
            <a:off x="9384030" y="4740249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5198" y="4731105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Railway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19" y="1673351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3052"/>
                </a:solidFill>
                <a:latin typeface="Aptos"/>
              </a:defRPr>
            </a:pPr>
            <a:r>
              <a:t>N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1137392" y="1828800"/>
            <a:ext cx="0" cy="274320"/>
          </a:xfrm>
          <a:prstGeom prst="line">
            <a:avLst/>
          </a:prstGeom>
          <a:ln w="31750">
            <a:solidFill>
              <a:srgbClr val="0F3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018519" y="180136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3052"/>
                </a:solidFill>
                <a:latin typeface="Aptos"/>
              </a:defRPr>
            </a:pPr>
            <a:r>
              <a:t>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FAB3A"/>
                </a:solidFill>
                <a:latin typeface="Aptos"/>
              </a:defRPr>
            </a:pPr>
            <a:r>
              <a:t>INSPIRATION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🌟 आज का MISSION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EF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0876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F3052"/>
                </a:solidFill>
                <a:latin typeface="Aptos"/>
              </a:defRPr>
            </a:pPr>
            <a:r>
              <a:t>“A map is not just a drawing — it helps us understand a place.”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59152"/>
            <a:ext cx="6583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2979D"/>
                </a:solidFill>
                <a:latin typeface="Noto Sans Telugu"/>
              </a:defRPr>
            </a:pPr>
            <a:r>
              <a:t>“పటం కేవలం ఒక చిత్రం కాదు — అది ఒక ప్రదేశాన్ని అర్థం చేసుకోవడానికి సహాయపడుతుంది.”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310128"/>
            <a:ext cx="6172200" cy="169164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5661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FAB3A"/>
                </a:solidFill>
                <a:latin typeface="Aptos"/>
              </a:defRPr>
            </a:pPr>
            <a:r>
              <a:t>Teacher asks: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931920"/>
            <a:ext cx="5440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02B36"/>
                </a:solidFill>
                <a:latin typeface="Aptos"/>
              </a:defRPr>
            </a:pPr>
            <a:r>
              <a:t>“If a friend has never visited your village, how will you help them find your school?”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069080" cy="4343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1563624"/>
            <a:ext cx="3666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979D"/>
                </a:solidFill>
                <a:latin typeface="Aptos"/>
              </a:defRPr>
            </a:pPr>
            <a:r>
              <a:t>YOUR PLACE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635240" y="3154680"/>
            <a:ext cx="3429000" cy="1389888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535924" y="1920240"/>
            <a:ext cx="895197" cy="3566160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47634" y="2633472"/>
            <a:ext cx="2441448" cy="1737360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Wave 21"/>
          <p:cNvSpPr/>
          <p:nvPr/>
        </p:nvSpPr>
        <p:spPr>
          <a:xfrm>
            <a:off x="7640726" y="1938528"/>
            <a:ext cx="1057960" cy="694944"/>
          </a:xfrm>
          <a:prstGeom prst="wave">
            <a:avLst/>
          </a:prstGeom>
          <a:solidFill>
            <a:srgbClr val="E5F2FA"/>
          </a:solidFill>
          <a:ln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29016" y="3502152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3493008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Village</a:t>
            </a:r>
          </a:p>
        </p:txBody>
      </p:sp>
      <p:sp>
        <p:nvSpPr>
          <p:cNvPr id="25" name="Oval 24"/>
          <p:cNvSpPr/>
          <p:nvPr/>
        </p:nvSpPr>
        <p:spPr>
          <a:xfrm>
            <a:off x="9756648" y="2459736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57816" y="2450592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Town</a:t>
            </a:r>
          </a:p>
        </p:txBody>
      </p:sp>
      <p:sp>
        <p:nvSpPr>
          <p:cNvPr id="27" name="Oval 26"/>
          <p:cNvSpPr/>
          <p:nvPr/>
        </p:nvSpPr>
        <p:spPr>
          <a:xfrm>
            <a:off x="10285628" y="4110228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86796" y="4101084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School</a:t>
            </a:r>
          </a:p>
        </p:txBody>
      </p:sp>
      <p:sp>
        <p:nvSpPr>
          <p:cNvPr id="29" name="Oval 28"/>
          <p:cNvSpPr/>
          <p:nvPr/>
        </p:nvSpPr>
        <p:spPr>
          <a:xfrm>
            <a:off x="9146286" y="4718304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7454" y="470916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Railway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59" y="15819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3052"/>
                </a:solidFill>
                <a:latin typeface="Aptos"/>
              </a:defRPr>
            </a:pPr>
            <a:r>
              <a:t>N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1000232" y="1737360"/>
            <a:ext cx="0" cy="274320"/>
          </a:xfrm>
          <a:prstGeom prst="line">
            <a:avLst/>
          </a:prstGeom>
          <a:ln w="31750">
            <a:solidFill>
              <a:srgbClr val="0F3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881359" y="17099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3052"/>
                </a:solidFill>
                <a:latin typeface="Aptos"/>
              </a:defRPr>
            </a:pPr>
            <a:r>
              <a:t>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675B0"/>
                </a:solidFill>
                <a:latin typeface="Aptos"/>
              </a:defRPr>
            </a:pPr>
            <a:r>
              <a:t>SCERT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📖 SCERT 1.1 — DISTRICT POLITICAL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658368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6642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675B0"/>
                </a:solidFill>
                <a:latin typeface="Aptos"/>
              </a:defRPr>
            </a:pPr>
            <a:r>
              <a:t>SCERT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84831"/>
            <a:ext cx="5806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3052"/>
                </a:solidFill>
                <a:latin typeface="Aptos"/>
              </a:defRPr>
            </a:pPr>
            <a:r>
              <a:t>Today, we will study the map of our own district.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880360"/>
            <a:ext cx="58064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02B36"/>
                </a:solidFill>
                <a:latin typeface="Aptos"/>
              </a:defRPr>
            </a:pPr>
            <a:r>
              <a:t>Bring 2–3 copies of the political map of your district.</a:t>
            </a:r>
            <a:br/>
            <a:br/>
            <a:r>
              <a:t>Locate:</a:t>
            </a:r>
            <a:br/>
            <a:r>
              <a:t>• your village / town</a:t>
            </a:r>
            <a:br/>
            <a:r>
              <a:t>• nearby villages and towns</a:t>
            </a:r>
            <a:br/>
            <a:r>
              <a:t>• rivers, streams and other water-bodies</a:t>
            </a:r>
            <a:br/>
            <a:r>
              <a:t>• roads and railway 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230368"/>
            <a:ext cx="5806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979D"/>
                </a:solidFill>
                <a:latin typeface="Aptos"/>
              </a:defRPr>
            </a:pPr>
            <a:r>
              <a:t>Can you work out the distance between different places shown on the map?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9792" y="1417320"/>
            <a:ext cx="3977639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563624"/>
            <a:ext cx="357530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979D"/>
                </a:solidFill>
                <a:latin typeface="Aptos"/>
              </a:defRPr>
            </a:pPr>
            <a:r>
              <a:t>DISTRICT MAP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799831" y="3227832"/>
            <a:ext cx="3337561" cy="1448409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73084" y="1920240"/>
            <a:ext cx="875080" cy="3749040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195767" y="2684678"/>
            <a:ext cx="2386584" cy="1810512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Wave 21"/>
          <p:cNvSpPr/>
          <p:nvPr/>
        </p:nvSpPr>
        <p:spPr>
          <a:xfrm>
            <a:off x="7798003" y="1960473"/>
            <a:ext cx="1034186" cy="724204"/>
          </a:xfrm>
          <a:prstGeom prst="wave">
            <a:avLst/>
          </a:prstGeom>
          <a:solidFill>
            <a:srgbClr val="E5F2FA"/>
          </a:solidFill>
          <a:ln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5319" y="3589934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358079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Village</a:t>
            </a:r>
          </a:p>
        </p:txBody>
      </p:sp>
      <p:sp>
        <p:nvSpPr>
          <p:cNvPr id="25" name="Oval 24"/>
          <p:cNvSpPr/>
          <p:nvPr/>
        </p:nvSpPr>
        <p:spPr>
          <a:xfrm>
            <a:off x="9866376" y="2503627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7544" y="2494483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Town</a:t>
            </a:r>
          </a:p>
        </p:txBody>
      </p:sp>
      <p:sp>
        <p:nvSpPr>
          <p:cNvPr id="27" name="Oval 26"/>
          <p:cNvSpPr/>
          <p:nvPr/>
        </p:nvSpPr>
        <p:spPr>
          <a:xfrm>
            <a:off x="10383469" y="4223613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84637" y="4214469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School</a:t>
            </a:r>
          </a:p>
        </p:txBody>
      </p:sp>
      <p:sp>
        <p:nvSpPr>
          <p:cNvPr id="29" name="Oval 28"/>
          <p:cNvSpPr/>
          <p:nvPr/>
        </p:nvSpPr>
        <p:spPr>
          <a:xfrm>
            <a:off x="9269730" y="4857292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70898" y="4848148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Railway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4511" y="15819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3052"/>
                </a:solidFill>
                <a:latin typeface="Aptos"/>
              </a:defRPr>
            </a:pPr>
            <a:r>
              <a:t>N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1073384" y="1737360"/>
            <a:ext cx="0" cy="274320"/>
          </a:xfrm>
          <a:prstGeom prst="line">
            <a:avLst/>
          </a:prstGeom>
          <a:ln w="31750">
            <a:solidFill>
              <a:srgbClr val="0F3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954511" y="17099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3052"/>
                </a:solidFill>
                <a:latin typeface="Aptos"/>
              </a:defRPr>
            </a:pPr>
            <a:r>
              <a:t>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979D"/>
                </a:solidFill>
                <a:latin typeface="Aptos"/>
              </a:defRPr>
            </a:pPr>
            <a:r>
              <a:t>OBSERVE BEFORE 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🕵️ MAP DETECTIVE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649224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63624"/>
            <a:ext cx="608990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979D"/>
                </a:solidFill>
                <a:latin typeface="Aptos"/>
              </a:defRPr>
            </a:pPr>
            <a:r>
              <a:t>LOOK CAREFULLY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78407" y="3227832"/>
            <a:ext cx="5852161" cy="1448409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06039" y="1920240"/>
            <a:ext cx="1428293" cy="3749040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26971" y="2684678"/>
            <a:ext cx="3895344" cy="1810512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Wave 16"/>
          <p:cNvSpPr/>
          <p:nvPr/>
        </p:nvSpPr>
        <p:spPr>
          <a:xfrm>
            <a:off x="1177747" y="1960473"/>
            <a:ext cx="1687982" cy="724204"/>
          </a:xfrm>
          <a:prstGeom prst="wave">
            <a:avLst/>
          </a:prstGeom>
          <a:solidFill>
            <a:srgbClr val="E5F2FA"/>
          </a:solidFill>
          <a:ln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56815" y="3589934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7984" y="358079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Village</a:t>
            </a:r>
          </a:p>
        </p:txBody>
      </p:sp>
      <p:sp>
        <p:nvSpPr>
          <p:cNvPr id="20" name="Oval 19"/>
          <p:cNvSpPr/>
          <p:nvPr/>
        </p:nvSpPr>
        <p:spPr>
          <a:xfrm>
            <a:off x="4553712" y="2503627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2494483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Town</a:t>
            </a:r>
          </a:p>
        </p:txBody>
      </p:sp>
      <p:sp>
        <p:nvSpPr>
          <p:cNvPr id="22" name="Oval 21"/>
          <p:cNvSpPr/>
          <p:nvPr/>
        </p:nvSpPr>
        <p:spPr>
          <a:xfrm>
            <a:off x="5397703" y="4223613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8871" y="4214469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School</a:t>
            </a:r>
          </a:p>
        </p:txBody>
      </p:sp>
      <p:sp>
        <p:nvSpPr>
          <p:cNvPr id="24" name="Oval 23"/>
          <p:cNvSpPr/>
          <p:nvPr/>
        </p:nvSpPr>
        <p:spPr>
          <a:xfrm>
            <a:off x="3579876" y="4857292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1044" y="4848148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Railway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15819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3052"/>
                </a:solidFill>
                <a:latin typeface="Aptos"/>
              </a:defRPr>
            </a:pPr>
            <a:r>
              <a:t>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766559" y="1737360"/>
            <a:ext cx="0" cy="274320"/>
          </a:xfrm>
          <a:prstGeom prst="line">
            <a:avLst/>
          </a:prstGeom>
          <a:ln w="31750">
            <a:solidFill>
              <a:srgbClr val="0F3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47688" y="17099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3052"/>
                </a:solidFill>
                <a:latin typeface="Aptos"/>
              </a:defRPr>
            </a:pPr>
            <a:r>
              <a:t>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1417320"/>
            <a:ext cx="4023360" cy="4526280"/>
          </a:xfrm>
          <a:prstGeom prst="roundRect">
            <a:avLst/>
          </a:prstGeom>
          <a:solidFill>
            <a:srgbClr val="E2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171907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3052"/>
                </a:solidFill>
                <a:latin typeface="Aptos"/>
              </a:defRPr>
            </a:pPr>
            <a:r>
              <a:t>Find these clues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2267712"/>
            <a:ext cx="3154680" cy="347472"/>
          </a:xfrm>
          <a:prstGeom prst="round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63255" y="2322576"/>
            <a:ext cx="30815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📍 Village / Town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2834640"/>
            <a:ext cx="3154680" cy="347472"/>
          </a:xfrm>
          <a:prstGeom prst="round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63255" y="2889504"/>
            <a:ext cx="30815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🌊 Water body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3401568"/>
            <a:ext cx="3154680" cy="347472"/>
          </a:xfrm>
          <a:prstGeom prst="round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63255" y="3456432"/>
            <a:ext cx="30815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🛣️ Road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3968496"/>
            <a:ext cx="3154680" cy="347472"/>
          </a:xfrm>
          <a:prstGeom prst="round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63255" y="4023359"/>
            <a:ext cx="30815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🚆 Railway station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79" y="4535424"/>
            <a:ext cx="3154680" cy="347472"/>
          </a:xfrm>
          <a:prstGeom prst="round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63255" y="4590288"/>
            <a:ext cx="30815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🏫 Important place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5230368"/>
            <a:ext cx="3154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B6C79"/>
                </a:solidFill>
                <a:latin typeface="Aptos"/>
              </a:defRPr>
            </a:pPr>
            <a:r>
              <a:t>Rule: children observe first; teacher explains after responses.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19D66"/>
                </a:solidFill>
                <a:latin typeface="Aptos"/>
              </a:defRPr>
            </a:pPr>
            <a:r>
              <a:t>TEACHER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👩‍🏫 REAL PLACE →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319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07899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143000" y="4160520"/>
            <a:ext cx="1783080" cy="731520"/>
          </a:xfrm>
          <a:prstGeom prst="line">
            <a:avLst/>
          </a:prstGeom>
          <a:ln w="63500">
            <a:solidFill>
              <a:srgbClr val="319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26080" y="4160520"/>
            <a:ext cx="1783080" cy="320040"/>
          </a:xfrm>
          <a:prstGeom prst="line">
            <a:avLst/>
          </a:prstGeom>
          <a:ln w="63500">
            <a:solidFill>
              <a:srgbClr val="319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709160" y="3246120"/>
            <a:ext cx="1783080" cy="1234440"/>
          </a:xfrm>
          <a:prstGeom prst="line">
            <a:avLst/>
          </a:prstGeom>
          <a:ln w="63500">
            <a:solidFill>
              <a:srgbClr val="319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492240" y="2743200"/>
            <a:ext cx="1965960" cy="502920"/>
          </a:xfrm>
          <a:prstGeom prst="line">
            <a:avLst/>
          </a:prstGeom>
          <a:ln w="63500">
            <a:solidFill>
              <a:srgbClr val="319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458200" y="1965960"/>
            <a:ext cx="2011680" cy="777240"/>
          </a:xfrm>
          <a:prstGeom prst="line">
            <a:avLst/>
          </a:prstGeom>
          <a:ln w="63500">
            <a:solidFill>
              <a:srgbClr val="319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60120" y="46817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718304"/>
            <a:ext cx="4206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3052"/>
                </a:solidFill>
                <a:latin typeface="Aptos"/>
              </a:defRPr>
            </a:pPr>
            <a:r>
              <a:t>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0740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5B6C79"/>
                </a:solidFill>
                <a:latin typeface="Aptos"/>
              </a:defRPr>
            </a:pPr>
            <a:r>
              <a:t>School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0" y="395020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4912" y="3986784"/>
            <a:ext cx="4206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3052"/>
                </a:solidFill>
                <a:latin typeface="Aptos"/>
              </a:defRPr>
            </a:pPr>
            <a:r>
              <a:t>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6758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5B6C79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24" name="Oval 23"/>
          <p:cNvSpPr/>
          <p:nvPr/>
        </p:nvSpPr>
        <p:spPr>
          <a:xfrm>
            <a:off x="4526280" y="427024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4306824"/>
            <a:ext cx="4206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3052"/>
                </a:solidFill>
                <a:latin typeface="Aptos"/>
              </a:defRPr>
            </a:pPr>
            <a:r>
              <a:t>🛣️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9592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5B6C79"/>
                </a:solidFill>
                <a:latin typeface="Aptos"/>
              </a:defRPr>
            </a:pPr>
            <a:r>
              <a:t>Road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03580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3072384"/>
            <a:ext cx="4206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3052"/>
                </a:solidFill>
                <a:latin typeface="Aptos"/>
              </a:defRPr>
            </a:pPr>
            <a:r>
              <a:t>↪️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7614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5B6C79"/>
                </a:solidFill>
                <a:latin typeface="Aptos"/>
              </a:defRPr>
            </a:pPr>
            <a:r>
              <a:t>Turn</a:t>
            </a:r>
          </a:p>
        </p:txBody>
      </p:sp>
      <p:sp>
        <p:nvSpPr>
          <p:cNvPr id="30" name="Oval 29"/>
          <p:cNvSpPr/>
          <p:nvPr/>
        </p:nvSpPr>
        <p:spPr>
          <a:xfrm>
            <a:off x="8275320" y="253288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2569464"/>
            <a:ext cx="4206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3052"/>
                </a:solidFill>
                <a:latin typeface="Aptos"/>
              </a:defRPr>
            </a:pPr>
            <a:r>
              <a:t>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2585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5B6C79"/>
                </a:solidFill>
                <a:latin typeface="Aptos"/>
              </a:defRPr>
            </a:pPr>
            <a:r>
              <a:t>Landmark</a:t>
            </a:r>
          </a:p>
        </p:txBody>
      </p:sp>
      <p:sp>
        <p:nvSpPr>
          <p:cNvPr id="33" name="Oval 32"/>
          <p:cNvSpPr/>
          <p:nvPr/>
        </p:nvSpPr>
        <p:spPr>
          <a:xfrm>
            <a:off x="10241280" y="175564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22992" y="1792224"/>
            <a:ext cx="4206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3052"/>
                </a:solidFill>
                <a:latin typeface="Aptos"/>
              </a:defRPr>
            </a:pPr>
            <a:r>
              <a:t>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59" y="148132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5B6C79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13248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3052"/>
                </a:solidFill>
                <a:latin typeface="Aptos"/>
              </a:defRPr>
            </a:pPr>
            <a:r>
              <a:t>Teacher goes to a familiar route, observes real landmarks, then sketches the same route.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979D"/>
                </a:solidFill>
                <a:latin typeface="Aptos"/>
              </a:defRPr>
            </a:pPr>
            <a:r>
              <a:t>TEACHER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🌍 EXPLORE ON GOOGLE EARTH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07899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F3052"/>
                </a:solidFill>
                <a:latin typeface="Aptos"/>
              </a:defRPr>
            </a:pPr>
            <a:r>
              <a:t>REAL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2880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2979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82880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F3052"/>
                </a:solidFill>
                <a:latin typeface="Aptos"/>
              </a:defRPr>
            </a:pPr>
            <a:r>
              <a:t>SATELLITE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2979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2880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F3052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18" name="Oval 17"/>
          <p:cNvSpPr/>
          <p:nvPr/>
        </p:nvSpPr>
        <p:spPr>
          <a:xfrm>
            <a:off x="1325880" y="2743200"/>
            <a:ext cx="2057400" cy="2057400"/>
          </a:xfrm>
          <a:prstGeom prst="ellipse">
            <a:avLst/>
          </a:prstGeom>
          <a:solidFill>
            <a:srgbClr val="E5F2FA"/>
          </a:solidFill>
          <a:ln w="2540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331012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2880360"/>
            <a:ext cx="2423160" cy="1783080"/>
          </a:xfrm>
          <a:prstGeom prst="roundRect">
            <a:avLst/>
          </a:prstGeom>
          <a:solidFill>
            <a:srgbClr val="E2F7F6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6512" y="3182112"/>
            <a:ext cx="19933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F3052"/>
                </a:solidFill>
                <a:latin typeface="Aptos"/>
              </a:defRPr>
            </a:pPr>
            <a:r>
              <a:t>Zoom</a:t>
            </a:r>
            <a:br/>
            <a:r>
              <a:t>India → Telangana →</a:t>
            </a:r>
            <a:br/>
            <a:r>
              <a:t>relevant district/location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2880360"/>
            <a:ext cx="3154680" cy="1783080"/>
          </a:xfrm>
          <a:prstGeom prst="roundRect">
            <a:avLst/>
          </a:prstGeom>
          <a:solidFill>
            <a:srgbClr val="FFF6E0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32461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F3052"/>
                </a:solidFill>
                <a:latin typeface="Aptos"/>
              </a:defRPr>
            </a:pPr>
            <a:r>
              <a:t>Teacher decides when to use it.</a:t>
            </a:r>
            <a:br/>
            <a:r>
              <a:t>No forced browsing.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FAB3A"/>
                </a:solidFill>
                <a:latin typeface="Aptos"/>
              </a:defRPr>
            </a:pPr>
            <a:r>
              <a:t>SCERT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🎮 LET’S PLAY A MAP GAME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EF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07899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1783080"/>
            <a:ext cx="2971800" cy="1874519"/>
          </a:xfrm>
          <a:prstGeom prst="round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1947672"/>
            <a:ext cx="530352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48255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979D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6596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3052"/>
                </a:solidFill>
                <a:latin typeface="Aptos"/>
              </a:defRPr>
            </a:pPr>
            <a:r>
              <a:t>TEAM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286000"/>
            <a:ext cx="201168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Secretly chooses a place on the map and gives the name to the teacher.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1783080"/>
            <a:ext cx="2971800" cy="1874519"/>
          </a:xfrm>
          <a:prstGeom prst="roundRect">
            <a:avLst/>
          </a:prstGeom>
          <a:solidFill>
            <a:srgbClr val="E2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73168" y="1947672"/>
            <a:ext cx="530352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2048255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979D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196596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3052"/>
                </a:solidFill>
                <a:latin typeface="Aptos"/>
              </a:defRPr>
            </a:pPr>
            <a:r>
              <a:t>TEAM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286000"/>
            <a:ext cx="201168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Asks only YES / NO questions to identify the place.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4" y="1783080"/>
            <a:ext cx="2880360" cy="1874519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49056" y="1947672"/>
            <a:ext cx="530352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2048255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979D"/>
                </a:solidFill>
                <a:latin typeface="Aptos"/>
              </a:defRPr>
            </a:pPr>
            <a: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1965960"/>
            <a:ext cx="19202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3052"/>
                </a:solidFill>
                <a:latin typeface="Aptos"/>
              </a:defRPr>
            </a:pPr>
            <a:r>
              <a:t>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286000"/>
            <a:ext cx="192023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The team that finds the place with the fewest questions wins.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133087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F3052"/>
                </a:solidFill>
                <a:latin typeface="Aptos"/>
              </a:defRPr>
            </a:pPr>
            <a:r>
              <a:t>Example: “Is it a district headquarters?”  “Is it by the seacoast?”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864608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2979D"/>
                </a:solidFill>
                <a:latin typeface="Aptos"/>
              </a:defRPr>
            </a:pPr>
            <a:r>
              <a:t>Then reverse roles and play again.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675B0"/>
                </a:solidFill>
                <a:latin typeface="Aptos"/>
              </a:defRPr>
            </a:pPr>
            <a:r>
              <a:t>SCERT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🧠 WHAT CAN A MAP TELL US?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463040"/>
            <a:ext cx="3246120" cy="1755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71907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0F3052"/>
                </a:solidFill>
                <a:latin typeface="Aptos"/>
              </a:defRPr>
            </a:pPr>
            <a: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9164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675B0"/>
                </a:solidFill>
                <a:latin typeface="Aptos"/>
              </a:defRPr>
            </a:pPr>
            <a:r>
              <a:t>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3055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B36"/>
                </a:solidFill>
                <a:latin typeface="Aptos"/>
              </a:defRPr>
            </a:pPr>
            <a:r>
              <a:t>location of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463040"/>
            <a:ext cx="3246120" cy="1755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71907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0F3052"/>
                </a:solidFill>
                <a:latin typeface="Aptos"/>
              </a:defRPr>
            </a:pPr>
            <a:r>
              <a:t>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69164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675B0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13055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B36"/>
                </a:solidFill>
                <a:latin typeface="Aptos"/>
              </a:defRPr>
            </a:pPr>
            <a:r>
              <a:t>sea / river /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1463040"/>
            <a:ext cx="3246120" cy="1755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71907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0F3052"/>
                </a:solidFill>
                <a:latin typeface="Aptos"/>
              </a:defRPr>
            </a:pPr>
            <a:r>
              <a:t>⛰️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169164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675B0"/>
                </a:solidFill>
                <a:latin typeface="Aptos"/>
              </a:defRPr>
            </a:pPr>
            <a:r>
              <a:t>LAND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213055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B36"/>
                </a:solidFill>
                <a:latin typeface="Aptos"/>
              </a:defRPr>
            </a:pPr>
            <a:r>
              <a:t>mountain / desert / plains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611880"/>
            <a:ext cx="3246120" cy="1755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86791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0F3052"/>
                </a:solidFill>
                <a:latin typeface="Aptos"/>
              </a:defRPr>
            </a:pPr>
            <a:r>
              <a:t>🌦️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8404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675B0"/>
                </a:solidFill>
                <a:latin typeface="Aptos"/>
              </a:defRPr>
            </a:pPr>
            <a:r>
              <a:t>CLIMATE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7939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B36"/>
                </a:solidFill>
                <a:latin typeface="Aptos"/>
              </a:defRPr>
            </a:pPr>
            <a:r>
              <a:t>hot / cold / rainy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611880"/>
            <a:ext cx="3246120" cy="1755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386791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0F3052"/>
                </a:solidFill>
                <a:latin typeface="Aptos"/>
              </a:defRPr>
            </a:pPr>
            <a:r>
              <a:t>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38404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675B0"/>
                </a:solidFill>
                <a:latin typeface="Aptos"/>
              </a:defRPr>
            </a:pPr>
            <a:r>
              <a:t>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427939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B36"/>
                </a:solidFill>
                <a:latin typeface="Aptos"/>
              </a:defRPr>
            </a:pPr>
            <a:r>
              <a:t>trees and plants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82127" y="3611880"/>
            <a:ext cx="3246120" cy="1755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386791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0F3052"/>
                </a:solidFill>
                <a:latin typeface="Aptos"/>
              </a:defRPr>
            </a:pPr>
            <a:r>
              <a:t>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6" y="38404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675B0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1936" y="427939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B36"/>
                </a:solidFill>
                <a:latin typeface="Aptos"/>
              </a:defRPr>
            </a:pPr>
            <a:r>
              <a:t>language / work / settlements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66928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B6C79"/>
                </a:solidFill>
                <a:latin typeface="Aptos"/>
              </a:defRPr>
            </a:pPr>
            <a:r>
              <a:t>One map may not show everything — different maps may be needed.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FAB3A"/>
                </a:solidFill>
                <a:latin typeface="Aptos"/>
              </a:defRPr>
            </a:pPr>
            <a:r>
              <a:t>STORY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🎬 LAILA &amp; MALLIKA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EF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07899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1828800"/>
            <a:ext cx="4251960" cy="2331720"/>
          </a:xfrm>
          <a:prstGeom prst="round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1993392"/>
            <a:ext cx="530352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93976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979D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01168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3052"/>
                </a:solidFill>
                <a:latin typeface="Aptos"/>
              </a:defRPr>
            </a:pPr>
            <a:r>
              <a:t>LAILA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331720"/>
            <a:ext cx="329184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Lives in Adilabad. She plans to visit her friend Mallika during the holidays.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828800"/>
            <a:ext cx="4160520" cy="2331720"/>
          </a:xfrm>
          <a:prstGeom prst="roundRect">
            <a:avLst/>
          </a:prstGeom>
          <a:solidFill>
            <a:srgbClr val="E2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59752" y="1993392"/>
            <a:ext cx="530352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2093976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979D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201168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3052"/>
                </a:solidFill>
                <a:latin typeface="Aptos"/>
              </a:defRPr>
            </a:pPr>
            <a:r>
              <a:t>MALLIKA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233172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Lives in Venkatapuram village. She sends Laila a sketch map from the bus stand to her house.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81728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FAB3A"/>
                </a:solidFill>
                <a:latin typeface="Aptos"/>
              </a:defRPr>
            </a:pPr>
            <a:r>
              <a:t>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617720"/>
            <a:ext cx="81838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3052"/>
                </a:solidFill>
                <a:latin typeface="Aptos"/>
              </a:defRPr>
            </a:pPr>
            <a:r>
              <a:t>Can Laila reach Mallika’s house using only the sketch map?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979D"/>
                </a:solidFill>
                <a:latin typeface="Aptos"/>
              </a:defRPr>
            </a:pPr>
            <a:r>
              <a:t>SCERT 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🗺️ THE SKETCH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64465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234440" y="3794760"/>
            <a:ext cx="731520" cy="1097280"/>
          </a:xfrm>
          <a:prstGeom prst="line">
            <a:avLst/>
          </a:prstGeom>
          <a:ln w="63500">
            <a:solidFill>
              <a:srgbClr val="1675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3794760"/>
            <a:ext cx="1097280" cy="0"/>
          </a:xfrm>
          <a:prstGeom prst="line">
            <a:avLst/>
          </a:prstGeom>
          <a:ln w="63500">
            <a:solidFill>
              <a:srgbClr val="1675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63240" y="2834640"/>
            <a:ext cx="640080" cy="960120"/>
          </a:xfrm>
          <a:prstGeom prst="line">
            <a:avLst/>
          </a:prstGeom>
          <a:ln w="63500">
            <a:solidFill>
              <a:srgbClr val="1675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03320" y="2834640"/>
            <a:ext cx="1097280" cy="0"/>
          </a:xfrm>
          <a:prstGeom prst="line">
            <a:avLst/>
          </a:prstGeom>
          <a:ln w="63500">
            <a:solidFill>
              <a:srgbClr val="1675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800600" y="1874519"/>
            <a:ext cx="1280160" cy="960121"/>
          </a:xfrm>
          <a:prstGeom prst="line">
            <a:avLst/>
          </a:prstGeom>
          <a:ln w="63500">
            <a:solidFill>
              <a:srgbClr val="1675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60120" y="461772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654296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3052"/>
                </a:solidFill>
                <a:latin typeface="Aptos"/>
              </a:defRPr>
            </a:pPr>
            <a:r>
              <a:t>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5B6C79"/>
                </a:solidFill>
                <a:latin typeface="Aptos"/>
              </a:defRPr>
            </a:pPr>
            <a:r>
              <a:t>BUS STOP</a:t>
            </a:r>
          </a:p>
        </p:txBody>
      </p:sp>
      <p:sp>
        <p:nvSpPr>
          <p:cNvPr id="21" name="Oval 20"/>
          <p:cNvSpPr/>
          <p:nvPr/>
        </p:nvSpPr>
        <p:spPr>
          <a:xfrm>
            <a:off x="2788920" y="3639312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9776" y="3675887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3052"/>
                </a:solidFill>
                <a:latin typeface="Aptos"/>
              </a:defRPr>
            </a:pPr>
            <a:r>
              <a:t>↪️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3364992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5B6C79"/>
                </a:solidFill>
                <a:latin typeface="Aptos"/>
              </a:defRPr>
            </a:pPr>
            <a:r>
              <a:t>TURN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0" y="2633472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6" y="2670048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3052"/>
                </a:solidFill>
                <a:latin typeface="Aptos"/>
              </a:defRPr>
            </a:pPr>
            <a: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359152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5B6C79"/>
                </a:solidFill>
                <a:latin typeface="Aptos"/>
              </a:defRPr>
            </a:pPr>
            <a:r>
              <a:t>LANDMARK</a:t>
            </a:r>
          </a:p>
        </p:txBody>
      </p:sp>
      <p:sp>
        <p:nvSpPr>
          <p:cNvPr id="27" name="Oval 26"/>
          <p:cNvSpPr/>
          <p:nvPr/>
        </p:nvSpPr>
        <p:spPr>
          <a:xfrm>
            <a:off x="5806440" y="1627632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7296" y="1664208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3052"/>
                </a:solidFill>
                <a:latin typeface="Aptos"/>
              </a:defRPr>
            </a:pPr>
            <a:r>
              <a:t>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1353312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5B6C79"/>
                </a:solidFill>
                <a:latin typeface="Aptos"/>
              </a:defRPr>
            </a:pPr>
            <a:r>
              <a:t>MALLIKA’S HOUSE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88352" y="1417320"/>
            <a:ext cx="4059936" cy="4526280"/>
          </a:xfrm>
          <a:prstGeom prst="roundRect">
            <a:avLst/>
          </a:prstGeom>
          <a:solidFill>
            <a:srgbClr val="E2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171907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3052"/>
                </a:solidFill>
                <a:latin typeface="Aptos"/>
              </a:defRPr>
            </a:pPr>
            <a:r>
              <a:t>SCERT asks us to notice: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2331720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02B36"/>
                </a:solidFill>
                <a:latin typeface="Aptos"/>
              </a:defRPr>
            </a:pPr>
            <a:r>
              <a:t>• How many turns?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944368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02B36"/>
                </a:solidFill>
                <a:latin typeface="Aptos"/>
              </a:defRPr>
            </a:pPr>
            <a:r>
              <a:t>• What landmarks are at the turns?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3557015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02B36"/>
                </a:solidFill>
                <a:latin typeface="Aptos"/>
              </a:defRPr>
            </a:pPr>
            <a:r>
              <a:t>• Are buildings shown to actual size?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4169664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02B36"/>
                </a:solidFill>
                <a:latin typeface="Aptos"/>
              </a:defRPr>
            </a:pPr>
            <a:r>
              <a:t>• Can we tell the direction?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478231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02B36"/>
                </a:solidFill>
                <a:latin typeface="Aptos"/>
              </a:defRPr>
            </a:pPr>
            <a:r>
              <a:t>• Can we tell the distance?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675B0"/>
                </a:solidFill>
                <a:latin typeface="Aptos"/>
              </a:defRPr>
            </a:pPr>
            <a:r>
              <a:t>THINK BEFORE TEACHER EXPLAINS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🔎 CAN YOU REACH MALLIKA’S HOUSE?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07899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737360"/>
            <a:ext cx="4800600" cy="987552"/>
          </a:xfrm>
          <a:prstGeom prst="round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0704" y="2011679"/>
            <a:ext cx="502920" cy="347472"/>
          </a:xfrm>
          <a:prstGeom prst="round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66543"/>
            <a:ext cx="429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188366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2167128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Can you follow the route from the bus stop?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1737360"/>
            <a:ext cx="4800600" cy="987552"/>
          </a:xfrm>
          <a:prstGeom prst="roundRect">
            <a:avLst/>
          </a:prstGeom>
          <a:solidFill>
            <a:srgbClr val="E2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11679"/>
            <a:ext cx="502920" cy="347472"/>
          </a:xfrm>
          <a:prstGeom prst="round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066543"/>
            <a:ext cx="429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188366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TURNS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167128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How many turns did Laila take?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2999232"/>
            <a:ext cx="4800600" cy="987552"/>
          </a:xfrm>
          <a:prstGeom prst="round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0704" y="3273551"/>
            <a:ext cx="502920" cy="347472"/>
          </a:xfrm>
          <a:prstGeom prst="round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328415"/>
            <a:ext cx="429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14553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LANDMARKS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9072" y="342900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What landmarks help at the turns?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2999232"/>
            <a:ext cx="4800600" cy="987552"/>
          </a:xfrm>
          <a:prstGeom prst="roundRect">
            <a:avLst/>
          </a:prstGeom>
          <a:solidFill>
            <a:srgbClr val="E2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18504" y="3273551"/>
            <a:ext cx="502920" cy="347472"/>
          </a:xfrm>
          <a:prstGeom prst="round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328415"/>
            <a:ext cx="429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314553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342900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Are the buildings drawn to actual size?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4261104"/>
            <a:ext cx="4800600" cy="987552"/>
          </a:xfrm>
          <a:prstGeom prst="round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60704" y="4535424"/>
            <a:ext cx="502920" cy="347472"/>
          </a:xfrm>
          <a:prstGeom prst="round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590288"/>
            <a:ext cx="429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9072" y="440740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9072" y="4690872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Can you tell whether Laila walked north or east?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3912" y="4261104"/>
            <a:ext cx="4800600" cy="987552"/>
          </a:xfrm>
          <a:prstGeom prst="roundRect">
            <a:avLst/>
          </a:prstGeom>
          <a:solidFill>
            <a:srgbClr val="E2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18504" y="4535424"/>
            <a:ext cx="502920" cy="347472"/>
          </a:xfrm>
          <a:prstGeom prst="round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590288"/>
            <a:ext cx="429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6872" y="440740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DISTANCE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4690872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02B36"/>
                </a:solidFill>
                <a:latin typeface="Aptos"/>
              </a:defRPr>
            </a:pPr>
            <a:r>
              <a:t>Can you tell the distance from bus stop to house?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A534C"/>
                </a:solidFill>
                <a:latin typeface="Aptos"/>
              </a:defRPr>
            </a:pPr>
            <a:r>
              <a:t>DISCOVER THE NEED FOR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⚠️ THE PROBLEM IN THE 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07899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75564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3052"/>
                </a:solidFill>
                <a:latin typeface="Aptos"/>
              </a:defRPr>
            </a:pPr>
            <a:r>
              <a:t>Laila reaches the house… but something important was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487168"/>
            <a:ext cx="4434840" cy="2057400"/>
          </a:xfrm>
          <a:prstGeom prst="roundRect">
            <a:avLst/>
          </a:prstGeom>
          <a:solidFill>
            <a:srgbClr val="FC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83464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DA534C"/>
                </a:solidFill>
                <a:latin typeface="Aptos"/>
              </a:defRPr>
            </a:pPr>
            <a:r>
              <a:t>“I am tired!”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56432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02B36"/>
                </a:solidFill>
                <a:latin typeface="Aptos"/>
              </a:defRPr>
            </a:pPr>
            <a:r>
              <a:t>The sketch map did not tell her the distance from the bus stop to the house.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87168"/>
            <a:ext cx="4434840" cy="205740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834640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EFAB3A"/>
                </a:solidFill>
                <a:latin typeface="Aptos"/>
              </a:defRPr>
            </a:pPr>
            <a:r>
              <a:t>WHAT NEXT?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456432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F3052"/>
                </a:solidFill>
                <a:latin typeface="Aptos"/>
              </a:defRPr>
            </a:pPr>
            <a:r>
              <a:t>We need a way to describe distance on a map.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16636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B6C79"/>
                </a:solidFill>
                <a:latin typeface="Aptos"/>
              </a:defRPr>
            </a:pPr>
            <a:r>
              <a:t>This naturally leads into the next learning step: direction and scale / distance.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19D66"/>
                </a:solidFill>
                <a:latin typeface="Aptos"/>
              </a:defRPr>
            </a:pPr>
            <a:r>
              <a:t>EXPERIENTIAL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👩‍🏫 REAL-PLACE CLASSROOM 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319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07899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719072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F3052"/>
                </a:solidFill>
                <a:latin typeface="Aptos"/>
              </a:defRPr>
            </a:pPr>
            <a:r>
              <a:t>Teacher takes students outside the classroom for 5 minutes.</a:t>
            </a:r>
          </a:p>
        </p:txBody>
      </p:sp>
      <p:sp>
        <p:nvSpPr>
          <p:cNvPr id="14" name="Oval 13"/>
          <p:cNvSpPr/>
          <p:nvPr/>
        </p:nvSpPr>
        <p:spPr>
          <a:xfrm>
            <a:off x="1444752" y="2487168"/>
            <a:ext cx="640080" cy="640080"/>
          </a:xfrm>
          <a:prstGeom prst="ellipse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2660904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310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F3052"/>
                </a:solidFill>
                <a:latin typeface="Aptos"/>
              </a:defRPr>
            </a:pPr>
            <a:r>
              <a:t>LOOK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675887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02B36"/>
                </a:solidFill>
                <a:latin typeface="Aptos"/>
              </a:defRPr>
            </a:pPr>
            <a:r>
              <a:t>school gate</a:t>
            </a:r>
          </a:p>
        </p:txBody>
      </p:sp>
      <p:sp>
        <p:nvSpPr>
          <p:cNvPr id="18" name="Oval 17"/>
          <p:cNvSpPr/>
          <p:nvPr/>
        </p:nvSpPr>
        <p:spPr>
          <a:xfrm>
            <a:off x="3547872" y="2487168"/>
            <a:ext cx="640080" cy="640080"/>
          </a:xfrm>
          <a:prstGeom prst="ellipse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660904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3310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F3052"/>
                </a:solidFill>
                <a:latin typeface="Aptos"/>
              </a:defRPr>
            </a:pPr>
            <a:r>
              <a:t>NOTICE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3675887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02B36"/>
                </a:solidFill>
                <a:latin typeface="Aptos"/>
              </a:defRPr>
            </a:pPr>
            <a:r>
              <a:t>road / tree / shop</a:t>
            </a:r>
          </a:p>
        </p:txBody>
      </p:sp>
      <p:sp>
        <p:nvSpPr>
          <p:cNvPr id="22" name="Oval 21"/>
          <p:cNvSpPr/>
          <p:nvPr/>
        </p:nvSpPr>
        <p:spPr>
          <a:xfrm>
            <a:off x="5650992" y="2487168"/>
            <a:ext cx="640080" cy="640080"/>
          </a:xfrm>
          <a:prstGeom prst="ellipse">
            <a:avLst/>
          </a:prstGeom>
          <a:solidFill>
            <a:srgbClr val="319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2660904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3310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F3052"/>
                </a:solidFill>
                <a:latin typeface="Aptos"/>
              </a:defRPr>
            </a:pPr>
            <a:r>
              <a:t>WALK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3675887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02B36"/>
                </a:solidFill>
                <a:latin typeface="Aptos"/>
              </a:defRPr>
            </a:pPr>
            <a:r>
              <a:t>one familiar route</a:t>
            </a:r>
          </a:p>
        </p:txBody>
      </p:sp>
      <p:sp>
        <p:nvSpPr>
          <p:cNvPr id="26" name="Oval 25"/>
          <p:cNvSpPr/>
          <p:nvPr/>
        </p:nvSpPr>
        <p:spPr>
          <a:xfrm>
            <a:off x="7754111" y="2487168"/>
            <a:ext cx="640080" cy="640080"/>
          </a:xfrm>
          <a:prstGeom prst="ellipse">
            <a:avLst/>
          </a:prstGeom>
          <a:solidFill>
            <a:srgbClr val="EF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1" y="2660904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1" y="3310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F3052"/>
                </a:solidFill>
                <a:latin typeface="Aptos"/>
              </a:defRPr>
            </a:pPr>
            <a:r>
              <a:t>SKETCH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8623" y="3675887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02B36"/>
                </a:solidFill>
                <a:latin typeface="Aptos"/>
              </a:defRPr>
            </a:pPr>
            <a:r>
              <a:t>draw only important landmarks</a:t>
            </a:r>
          </a:p>
        </p:txBody>
      </p:sp>
      <p:sp>
        <p:nvSpPr>
          <p:cNvPr id="30" name="Oval 29"/>
          <p:cNvSpPr/>
          <p:nvPr/>
        </p:nvSpPr>
        <p:spPr>
          <a:xfrm>
            <a:off x="9857232" y="2487168"/>
            <a:ext cx="640080" cy="640080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7232" y="2660904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3310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F3052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3675887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02B36"/>
                </a:solidFill>
                <a:latin typeface="Aptos"/>
              </a:defRPr>
            </a:pPr>
            <a:r>
              <a:t>real place ↔ sketch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98348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19D66"/>
                </a:solidFill>
                <a:latin typeface="Aptos"/>
              </a:defRPr>
            </a:pPr>
            <a:r>
              <a:t>Teacher video slot: real school route demonstration.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FAB3A"/>
                </a:solidFill>
                <a:latin typeface="Aptos"/>
              </a:defRPr>
            </a:pPr>
            <a:r>
              <a:t>STUDENT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✏️ CREATE YOUR OWN SKETCH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EF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66751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7373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FAB3A"/>
                </a:solidFill>
                <a:latin typeface="Aptos"/>
              </a:defRPr>
            </a:pPr>
            <a:r>
              <a:t>Draw: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267712"/>
            <a:ext cx="2057400" cy="347472"/>
          </a:xfrm>
          <a:prstGeom prst="roundRect">
            <a:avLst/>
          </a:prstGeom>
          <a:solidFill>
            <a:srgbClr val="16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322576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START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2953512"/>
            <a:ext cx="2057400" cy="347472"/>
          </a:xfrm>
          <a:prstGeom prst="round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008376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2–3 LANDMARKS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639312"/>
            <a:ext cx="2057400" cy="347472"/>
          </a:xfrm>
          <a:prstGeom prst="roundRect">
            <a:avLst/>
          </a:prstGeom>
          <a:solidFill>
            <a:srgbClr val="319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694176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ROAD / 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325112"/>
            <a:ext cx="2057400" cy="347472"/>
          </a:xfrm>
          <a:prstGeom prst="roundRect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379976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DESTINATION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26771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3052"/>
                </a:solidFill>
                <a:latin typeface="Aptos"/>
              </a:defRPr>
            </a:pPr>
            <a:r>
              <a:t>Partner test: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633472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02B36"/>
                </a:solidFill>
                <a:latin typeface="Aptos"/>
              </a:defRPr>
            </a:pPr>
            <a:r>
              <a:t>Give your sketch map to a partner.</a:t>
            </a:r>
            <a:br/>
            <a:r>
              <a:t>Can they follow it without asking you?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417320"/>
            <a:ext cx="3813048" cy="452628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171907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19D66"/>
                </a:solidFill>
                <a:latin typeface="Noto Sans Telugu"/>
              </a:defRPr>
            </a:pPr>
            <a:r>
              <a:t>తెలుగు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304288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F3052"/>
                </a:solidFill>
                <a:latin typeface="Noto Sans Telugu"/>
              </a:defRPr>
            </a:pPr>
            <a:r>
              <a:t>“నా పాఠశాల నుంచి</a:t>
            </a:r>
            <a:br/>
            <a:r>
              <a:t>నా ఇంటి వరకు</a:t>
            </a:r>
            <a:br/>
            <a:r>
              <a:t>సరళమైన స్కెచ్ పటం</a:t>
            </a:r>
            <a:br/>
            <a:r>
              <a:t>గీయగలను.”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315968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FAB3A"/>
                </a:solidFill>
                <a:latin typeface="Aptos"/>
              </a:defRPr>
            </a:pPr>
            <a:r>
              <a:t>Create → Explain → Peer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19D66"/>
                </a:solidFill>
                <a:latin typeface="Aptos"/>
              </a:defRPr>
            </a:pPr>
            <a:r>
              <a:t>ASSESSMENT FOR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📊 CCE — OBSERVE THE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319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07899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1755648"/>
            <a:ext cx="1965960" cy="502920"/>
          </a:xfrm>
          <a:prstGeom prst="round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01952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1755648"/>
            <a:ext cx="2240280" cy="502920"/>
          </a:xfrm>
          <a:prstGeom prst="round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90195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BEGINNING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755648"/>
            <a:ext cx="2240280" cy="502920"/>
          </a:xfrm>
          <a:prstGeom prst="round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90195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DEVELOPING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755648"/>
            <a:ext cx="3154680" cy="502920"/>
          </a:xfrm>
          <a:prstGeom prst="round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01952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ACHIEVED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42316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Observes a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2350008"/>
            <a:ext cx="2148840" cy="457200"/>
          </a:xfrm>
          <a:prstGeom prst="roundRect">
            <a:avLst/>
          </a:prstGeom>
          <a:solidFill>
            <a:srgbClr val="FC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244144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A534C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2350008"/>
            <a:ext cx="2148840" cy="45720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44144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FAB3A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350008"/>
            <a:ext cx="2971800" cy="457200"/>
          </a:xfrm>
          <a:prstGeom prst="roundRect">
            <a:avLst/>
          </a:prstGeom>
          <a:solidFill>
            <a:srgbClr val="E7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2441448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19D66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136391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Identifies landmarks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3063239"/>
            <a:ext cx="2148840" cy="457200"/>
          </a:xfrm>
          <a:prstGeom prst="roundRect">
            <a:avLst/>
          </a:prstGeom>
          <a:solidFill>
            <a:srgbClr val="FC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3154679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A534C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3063239"/>
            <a:ext cx="2148840" cy="45720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3154679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FAB3A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063239"/>
            <a:ext cx="2971800" cy="457200"/>
          </a:xfrm>
          <a:prstGeom prst="roundRect">
            <a:avLst/>
          </a:prstGeom>
          <a:solidFill>
            <a:srgbClr val="E7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3154679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19D66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384962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Follows a route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3776472"/>
            <a:ext cx="2148840" cy="457200"/>
          </a:xfrm>
          <a:prstGeom prst="roundRect">
            <a:avLst/>
          </a:prstGeom>
          <a:solidFill>
            <a:srgbClr val="FC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3867911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A534C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3776472"/>
            <a:ext cx="2148840" cy="45720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0" y="3867911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FAB3A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3776472"/>
            <a:ext cx="2971800" cy="457200"/>
          </a:xfrm>
          <a:prstGeom prst="roundRect">
            <a:avLst/>
          </a:prstGeom>
          <a:solidFill>
            <a:srgbClr val="E7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79" y="3867911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19D66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562856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3052"/>
                </a:solidFill>
                <a:latin typeface="Aptos"/>
              </a:defRPr>
            </a:pPr>
            <a:r>
              <a:t>Explains a sketch map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4489704"/>
            <a:ext cx="2148840" cy="457200"/>
          </a:xfrm>
          <a:prstGeom prst="roundRect">
            <a:avLst/>
          </a:prstGeom>
          <a:solidFill>
            <a:srgbClr val="FC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4581144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A534C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77840" y="4489704"/>
            <a:ext cx="2148840" cy="45720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4581144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FAB3A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83879" y="4489704"/>
            <a:ext cx="2971800" cy="457200"/>
          </a:xfrm>
          <a:prstGeom prst="roundRect">
            <a:avLst/>
          </a:prstGeom>
          <a:solidFill>
            <a:srgbClr val="E7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4581144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19D66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553212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B6C79"/>
                </a:solidFill>
                <a:latin typeface="Aptos"/>
              </a:defRPr>
            </a:pPr>
            <a:r>
              <a:t>Teacher records evidence during activity — not only at the end.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979D"/>
                </a:solidFill>
                <a:latin typeface="Aptos"/>
              </a:defRPr>
            </a:pPr>
            <a:r>
              <a:t>REFLECTION • ENGLISH + తెలుగు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🎫 EXIT TICKET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12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07899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783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67712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3052"/>
                </a:solidFill>
                <a:latin typeface="Aptos"/>
              </a:defRPr>
            </a:pPr>
            <a:r>
              <a:t>“Today I learned that a map can __________.”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83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319D66"/>
                </a:solidFill>
                <a:latin typeface="Noto Sans Telugu"/>
              </a:defRPr>
            </a:pPr>
            <a:r>
              <a:t>తెలుగు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67712"/>
            <a:ext cx="4069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3052"/>
                </a:solidFill>
                <a:latin typeface="Noto Sans Telugu"/>
              </a:defRPr>
            </a:pPr>
            <a:r>
              <a:t>“ఈ రోజు పటం గురించి నేను</a:t>
            </a:r>
            <a:br/>
            <a:r>
              <a:t>____________ నేర్చుకున్నాను.”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40480"/>
            <a:ext cx="9738360" cy="1051560"/>
          </a:xfrm>
          <a:prstGeom prst="roundRect">
            <a:avLst/>
          </a:prstGeom>
          <a:solidFill>
            <a:srgbClr val="E2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160520"/>
            <a:ext cx="9098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2979D"/>
                </a:solidFill>
                <a:latin typeface="Aptos"/>
              </a:defRPr>
            </a:pPr>
            <a:r>
              <a:t>Teacher uses responses to decide what children need in the next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31750">
            <a:solidFill>
              <a:srgbClr val="0F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365760"/>
            <a:ext cx="1051560" cy="105156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B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5912" y="393192"/>
            <a:ext cx="464515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99648" y="393192"/>
            <a:ext cx="395020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393192"/>
            <a:ext cx="325526" cy="987552"/>
          </a:xfrm>
          <a:prstGeom prst="ellipse">
            <a:avLst/>
          </a:prstGeom>
          <a:noFill/>
          <a:ln w="7620">
            <a:solidFill>
              <a:srgbClr val="B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3072" y="6675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3052"/>
                </a:solidFill>
                <a:latin typeface="Aptos"/>
              </a:defRPr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F3052"/>
                </a:solidFill>
                <a:latin typeface="Aptos"/>
              </a:defRPr>
            </a:pPr>
            <a:r>
              <a:t>LOOK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9601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3052"/>
                </a:solidFill>
                <a:latin typeface="Aptos"/>
              </a:defRPr>
            </a:pPr>
            <a:r>
              <a:t>🌟 PERIOD 1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161288"/>
            <a:ext cx="914400" cy="5029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572768"/>
            <a:ext cx="59436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3052"/>
                </a:solidFill>
                <a:latin typeface="Aptos"/>
              </a:defRPr>
            </a:pPr>
            <a:r>
              <a:t>WE STARTED WITH A PLACE.</a:t>
            </a:r>
            <a:br/>
            <a:r>
              <a:t>WE TURNED IT INTO A MAP.</a:t>
            </a:r>
            <a:br/>
            <a:r>
              <a:t>WE FOUND A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86200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2979D"/>
                </a:solidFill>
                <a:latin typeface="Aptos"/>
              </a:defRPr>
            </a:pPr>
            <a:r>
              <a:t>Next: How do we describe WHERE a place is?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26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EFAB3A"/>
                </a:solidFill>
                <a:latin typeface="Aptos"/>
              </a:defRPr>
            </a:pPr>
            <a:r>
              <a:t>🧭 DIRECTIONS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417320"/>
            <a:ext cx="388620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8" y="1563624"/>
            <a:ext cx="34838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979D"/>
                </a:solidFill>
                <a:latin typeface="Aptos"/>
              </a:defRPr>
            </a:pPr>
            <a:r>
              <a:t>NEXT: DIRECTION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772400" y="3227832"/>
            <a:ext cx="3246120" cy="1448409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618220" y="1920240"/>
            <a:ext cx="854964" cy="3749040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51876" y="2684678"/>
            <a:ext cx="2331720" cy="1810512"/>
          </a:xfrm>
          <a:prstGeom prst="line">
            <a:avLst/>
          </a:prstGeom>
          <a:ln w="50800">
            <a:solidFill>
              <a:srgbClr val="B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Wave 19"/>
          <p:cNvSpPr/>
          <p:nvPr/>
        </p:nvSpPr>
        <p:spPr>
          <a:xfrm>
            <a:off x="7763256" y="1960473"/>
            <a:ext cx="1010412" cy="724204"/>
          </a:xfrm>
          <a:prstGeom prst="wave">
            <a:avLst/>
          </a:prstGeom>
          <a:solidFill>
            <a:srgbClr val="E5F2FA"/>
          </a:solidFill>
          <a:ln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0" y="3589934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58079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Village</a:t>
            </a:r>
          </a:p>
        </p:txBody>
      </p:sp>
      <p:sp>
        <p:nvSpPr>
          <p:cNvPr id="23" name="Oval 22"/>
          <p:cNvSpPr/>
          <p:nvPr/>
        </p:nvSpPr>
        <p:spPr>
          <a:xfrm>
            <a:off x="9784080" y="2503627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85248" y="2494483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Town</a:t>
            </a:r>
          </a:p>
        </p:txBody>
      </p:sp>
      <p:sp>
        <p:nvSpPr>
          <p:cNvPr id="25" name="Oval 24"/>
          <p:cNvSpPr/>
          <p:nvPr/>
        </p:nvSpPr>
        <p:spPr>
          <a:xfrm>
            <a:off x="10289286" y="4223613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90454" y="4214469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School</a:t>
            </a:r>
          </a:p>
        </p:txBody>
      </p:sp>
      <p:sp>
        <p:nvSpPr>
          <p:cNvPr id="27" name="Oval 26"/>
          <p:cNvSpPr/>
          <p:nvPr/>
        </p:nvSpPr>
        <p:spPr>
          <a:xfrm>
            <a:off x="9201150" y="4857292"/>
            <a:ext cx="164592" cy="164592"/>
          </a:xfrm>
          <a:prstGeom prst="ellipse">
            <a:avLst/>
          </a:prstGeom>
          <a:solidFill>
            <a:srgbClr val="DA5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2318" y="4848148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9"/>
                </a:solidFill>
                <a:latin typeface="Aptos"/>
              </a:defRPr>
            </a:pPr>
            <a:r>
              <a:t>Railway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15819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3052"/>
                </a:solidFill>
                <a:latin typeface="Aptos"/>
              </a:defRPr>
            </a:pPr>
            <a:r>
              <a:t>N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954512" y="1737360"/>
            <a:ext cx="0" cy="274320"/>
          </a:xfrm>
          <a:prstGeom prst="line">
            <a:avLst/>
          </a:prstGeom>
          <a:ln w="31750">
            <a:solidFill>
              <a:srgbClr val="0F3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835640" y="17099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3052"/>
                </a:solidFill>
                <a:latin typeface="Aptos"/>
              </a:defRPr>
            </a:pPr>
            <a: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994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F3052"/>
                </a:solidFill>
                <a:latin typeface="Aptos"/>
              </a:defRPr>
            </a:pPr>
            <a:r>
              <a:t>TLM FOR 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65960" y="6428232"/>
            <a:ext cx="205740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02536" y="644194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2979D"/>
                </a:solidFill>
                <a:latin typeface="Aptos"/>
              </a:defRPr>
            </a:pPr>
            <a:r>
              <a:t>🌍 Explore Google Earth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6428232"/>
            <a:ext cx="107899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A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7096" y="6441948"/>
            <a:ext cx="10058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EFAB3A"/>
                </a:solidFill>
                <a:latin typeface="Aptos"/>
              </a:defRPr>
            </a:pPr>
            <a:r>
              <a:t>🎬 Video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76672" y="6428232"/>
            <a:ext cx="1170432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13248" y="64419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675B0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84264" y="6428232"/>
            <a:ext cx="10058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9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6441948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319D66"/>
                </a:solidFill>
                <a:latin typeface="Aptos"/>
              </a:defRPr>
            </a:pPr>
            <a:r>
              <a:t>తెలుగు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C79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